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DocAssist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Conversational appointment booking with a clinic management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Speak naturally.</a:t>
            </a:r>
          </a:p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Let the backend validate every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3C7B8"/>
                </a:solidFill>
                <a:latin typeface="Aptos"/>
              </a:defRPr>
            </a:pPr>
            <a:r>
              <a:t>Next.js + React  •  FastAPI  •  PostgreSQL  •  Vapi</a:t>
            </a:r>
          </a:p>
          <a:p>
            <a:pPr>
              <a:spcAft>
                <a:spcPts val="1200"/>
              </a:spcAft>
              <a:defRPr sz="2300" b="0">
                <a:solidFill>
                  <a:srgbClr val="23C7B8"/>
                </a:solidFill>
                <a:latin typeface="Aptos"/>
              </a:defRPr>
            </a:pPr>
            <a:r>
              <a:t>Architecture, features, voice providers and cost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The problem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These are the project’s design motivations; no measured business outcomes are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Patient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Booking requires staff availability.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Dates and clinic hours can be misunderstood.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Patients need a simple way to ask, book or cancel.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Clinic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Repetitive scheduling interrupts staff.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Manual checks can miss holidays or conflicts.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Staff need one place to inspect appointments.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Our solution and delivered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The clinical guidelines are reference content; the system is not presented as a diagnostic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Patient-facing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Browser-based voice receptionist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Appointment booking and cancellation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Availability-related backend tools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Spoken confirmations and validation explanations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Staff-facing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Dashboard and appointment list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Clinic hours, working days and holidays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Configurable slot-duration setting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Signup/login, account page and guidelines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749039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fits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Next.js, React, TypeScript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Interactive pages and reusable typed components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UI / charts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Tailwind CSS, Recharts, Lucide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Consistent interface and appointment summaries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Python, FastAPI, Uvicorn, Pydantic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Request validation, tools and business logic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SQLAlchemy + Psycopg + PostgreSQL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Relational models, sessions and durable records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Voice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Vapi Web SDK + configured providers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Audio sessions, transcripts and tool calls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Development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pgAdmin + optional ngrok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Database inspection and public tool callbacks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C2D0DE"/>
                </a:solidFill>
                <a:latin typeface="Aptos"/>
              </a:defRPr>
            </a:pPr>
            <a:r>
              <a:t>PostgreSQL is the user-confirmed local database. The repository also supports SQLite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Architecture: separate conversation from booking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337560" cy="91440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Browser / Next.js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Dashboard and VoiceDialer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337560" cy="91440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40279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Vapi voice assistant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STT → model → TTS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103120"/>
            <a:ext cx="3337560" cy="91440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240279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Public HTTPS / ngrok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Configured tool callback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069080"/>
            <a:ext cx="3337560" cy="109728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206240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FastAPI backend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Validation and booking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69080"/>
            <a:ext cx="3337560" cy="109728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SQLAlchemy + Psycopg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Database 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3337560" cy="109728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3063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appointments / settings /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23C7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23C7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23C7B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23C7B8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23C7B8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C2D0DE"/>
                </a:solidFill>
                <a:latin typeface="Aptos"/>
              </a:defRPr>
            </a:pPr>
            <a:r>
              <a:t>The dashboard also calls FastAPI directly over HTTP/JSON. pgAdmin connects directly to PostgreSQL.</a:t>
            </a:r>
          </a:p>
          <a:p>
            <a:pPr>
              <a:spcAft>
                <a:spcPts val="1200"/>
              </a:spcAft>
              <a:defRPr sz="1600" b="0">
                <a:solidFill>
                  <a:srgbClr val="C2D0DE"/>
                </a:solidFill>
                <a:latin typeface="Aptos"/>
              </a:defRPr>
            </a:pPr>
            <a:r>
              <a:t>The Vapi tool URL and provider settings are managed outside the frontend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Which GPT, STT and TTS are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57200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Selection in supplied project documentation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Confirmation status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Conversation model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OpenAI GPT-4.1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Reported in supplied documentation; verify active setting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STT / transcription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Soniox / Deepgram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Supplied list has alternatives; exact model unresolved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TTS / spoken voice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Elliot (Vapi Voice)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Supplied voice label; exact provider/model unresolved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Vapi + @vapi-ai/web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Confirmed in frontend source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Caller transport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Browser voice / WebRTC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Browser SDK integration; phone route not required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C2D0DE"/>
                </a:solidFill>
                <a:latin typeface="Aptos"/>
              </a:defRPr>
            </a:pPr>
            <a:r>
              <a:t>Do not describe these as fully verified active settings until the Vapi assistant configuration is checked.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How a voice booking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3C7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745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Patient gives name, reason and appointment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3C7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7004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STT produces text; the model selects a configured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655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3C7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655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4655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FastAPI checks the window, clinic schedule and conflicts.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611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3C7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611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611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SQLAlchemy commits the accepted appointment to PostgreSQL.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566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3C7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5663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56631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Tool result returns to Vapi; TTS speaks the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Booking rules and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Implementation note: the current branch uses a calendar-date upper cutoff; the previously supplied update implements an exact rolling 240-hour window. Slot-duration settings do not alone prove overlap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Requested booking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Accept now ≤ requested time ≤ now + 10 days.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Apply clinic timezone consistently.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Reject holidays and closed working days.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Enforce clinic hours and check existing bookings.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Stored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appointments: patient, reason, time and cancellation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settings: hours, duration, days and holidays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users: name, email and password hash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Why choose PostgreSQL?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PostgreSQL improves the persistence foundation; it does not automatically enforce every business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Advantages for this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Shared relational storage for staff and API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Transactional updates and concurrent access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Constraints, indexing and backup options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Can run independently of the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Tradeoffs and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Requires a service, credentials and backups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Migration must transfer existing SQLite records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Check-then-insert can still race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Add database-level booking protection and migrations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Why choose Vapi?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C2D0DE"/>
                </a:solidFill>
                <a:latin typeface="Aptos"/>
              </a:defRPr>
            </a:pPr>
            <a:r>
              <a:t>Vapi is a practical POC choice, not a claim of universal superiority over other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Reasons for selecting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Existing React Web SDK integration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Managed voice-session orchestration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Tools connect to FastAPI endpoints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Call events and logs support debugging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Tradeoffs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External-service and provider dependence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Usage cost across several components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Tool configuration and audio lifecycle need care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Quality and latency require measured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Alternatives and their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663440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Disadvantages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Vapi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Managed orchestration; existing SDK and tools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Provider dependency; component costs; lifecycle handling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Retell AI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Managed conversational voice-agent platform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SDK/tool migration; verify plan features and pricing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Bland AI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Managed phone-call automation workflows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Verify browser fit, coverage and workflow constraints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OpenAI Realtime API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 audio interaction and more session control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More auth, tool execution, reconnection and phone integration work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Twilio + AI services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Flexible telephony routing and provider choices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More integration; separate telephony, speech and model costs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C2D0DE"/>
                </a:solidFill>
                <a:latin typeface="Aptos"/>
              </a:defRPr>
            </a:pPr>
            <a:r>
              <a:t>Evaluate actual booking success, latency, cost and privacy with the same test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Illustrative voice cost breakdown —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926080"/>
                <a:gridCol w="530352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README estimate / minute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to interpret it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Vapi orchestration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$0.050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Supplied estimate; verify current plan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STT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$0.004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Exact provider/model must be confirmed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LLM / GPT-4.1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$0.020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Per-minute planning allowance; token usage varies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TTS / Elliot label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$0.020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Planning allowance; actual voice billing varies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Browser carrier leg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$0.000 assumed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 PSTN leg in this browser-only scenario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$0.094 / minute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Arithmetic sum; not a verified live vendor quote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C2D0DE"/>
                </a:solidFill>
                <a:latin typeface="Aptos"/>
              </a:defRPr>
            </a:pPr>
            <a:r>
              <a:t>Excludes hosting, database service, ngrok plan, taxes and optional phone numbers/carrier calls. No current free-credit offer is guaranteed.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POC budget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566160"/>
              </a:tblGrid>
              <a:tr h="76809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Usage scenario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Illustrative voice cost</a:t>
                      </a:r>
                    </a:p>
                  </a:txBody>
                  <a:tcPr>
                    <a:solidFill>
                      <a:srgbClr val="24566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One 2-minute call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 × $0.094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$0.188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100 calls × 2 minutes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200 minutes × $0.094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$18.80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500 calls × 2 minutes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1,000 minutes × $0.094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$94.00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PKR conversion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USD total × actual USD/PKR rate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 your billing-date exchange rate</a:t>
                      </a:r>
                    </a:p>
                  </a:txBody>
                  <a:tcPr>
                    <a:solidFill>
                      <a:srgbClr val="1936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C2D0DE"/>
                </a:solidFill>
                <a:latin typeface="Aptos"/>
              </a:defRPr>
            </a:pPr>
            <a:r>
              <a:t>Actual model cost depends on tokens and context; STT/TTS billing units and any bundled pricing must be checked to avoid double counting.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Demo plan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Demonstrate 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1. Show clinic settings and available dates.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2. Request a valid voice booking.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3. Verify the row in pgAdmin.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4. Reject a past or too-distant booking.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5. Cancel a booking and show its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19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3C7B8"/>
                </a:solidFill>
                <a:latin typeface="Aptos"/>
              </a:defRPr>
            </a:pPr>
            <a:r>
              <a:t>Before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880360"/>
            <a:ext cx="4892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Confirm GPT, STT and TTS settings in Vapi.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Measure call cost, latency and success rate.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Add server-side authorization and tool protection.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Enforce concurrency-safe reservations.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Set backups, stable HTTPS and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6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3C7B8"/>
                </a:solidFill>
                <a:latin typeface="Aptos"/>
              </a:defRPr>
            </a:pPr>
            <a:r>
              <a:t>DOCASSIST AI  /  CLINIC VOICE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Sources and configuration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C2D0DE"/>
                </a:solidFill>
                <a:latin typeface="Aptos"/>
              </a:defRPr>
            </a:pPr>
            <a:r>
              <a:t>Project presentation • 27 October 2026 • POC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282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3C7B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Project evidence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User-supplied project and pricing documentation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test2-branch: README, frontend SDK/config, backend routes and SQLAlchemy models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User-confirmed PostgreSQL migration and supplied rolling-window update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Official pricing / configuration references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vapi.ai/pricing  |  docs.vapi.ai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retellai.com/pricing  |  docs.retellai.com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bland.ai  |  docs.bland.ai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openai.com/api/pricing  |  platform.openai.com/docs/guides/realtime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twilio.com/en-us/voice/pricing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3C7B8"/>
                </a:solidFill>
                <a:latin typeface="Aptos"/>
              </a:defRPr>
            </a:pPr>
            <a:r>
              <a:t>Live vendor prices were not independently verified. Confirm provider IDs and costs in the Vapi assistant and call-level cost breakdown before presenting exact prices.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